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bold ns1:id="rIdFont19"/>
      <ns0:regular ns1:id="rIdFont20"/>
    </ns0:embeddedFont>
    <ns0:embeddedFont>
      <ns0:font typeface="Space Grotesk"/>
      <ns0:bold ns1:id="rIdFont21"/>
      <ns0:regular ns1:id="rIdFont22"/>
    </ns0:embeddedFont>
    <ns0:embeddedFont>
      <ns0:font typeface="Fira Code"/>
      <ns0:bold ns1:id="rIdFont23"/>
      <ns0:regular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da02ecb5-833c-4f23-b294-ade3af9eb355.fntdata" /><ns0:Relationship Id="rIdFont20" Type="http://schemas.openxmlformats.org/officeDocument/2006/relationships/font" Target="fonts/34d58ff8-ece1-4341-a350-e82432196905.fntdata" /><ns0:Relationship Id="rIdFont21" Type="http://schemas.openxmlformats.org/officeDocument/2006/relationships/font" Target="fonts/2a4e9ac9-a814-4a1f-a5e2-b25058370559.fntdata" /><ns0:Relationship Id="rIdFont22" Type="http://schemas.openxmlformats.org/officeDocument/2006/relationships/font" Target="fonts/6a195f48-475b-43bf-a5ac-a4673a7eb0d2.fntdata" /><ns0:Relationship Id="rIdFont23" Type="http://schemas.openxmlformats.org/officeDocument/2006/relationships/font" Target="fonts/8040c45b-4a0a-4dca-9e4d-c163e55c3e35.fntdata" /><ns0:Relationship Id="rIdFont24" Type="http://schemas.openxmlformats.org/officeDocument/2006/relationships/font" Target="fonts/025a1dbd-65d4-41d8-85d4-3af43e3b852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476875"/>
            <a:ext cx="106680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47687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ADE80"/>
                </a:solidFill>
                <a:latin typeface="Inter"/>
              </a:rPr>
              <a:t>CS3104 / OOP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76325"/>
            <a:ext cx="1143000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b="1" sz="6000" i="0" u="none">
                <a:solidFill>
                  <a:srgbClr val="F8FAFC"/>
                </a:solidFill>
                <a:latin typeface="Space Grotesk"/>
              </a:rPr>
              <a:t>WildSnake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143125"/>
            <a:ext cx="77152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A Snake game engine with a browser interface.</a:t>
            </a:r>
            <a:r>
              <a:t>
</a:t>
            </a:r>
            <a:r>
              <a:rPr b="0" sz="1800" i="0" u="none">
                <a:solidFill>
                  <a:srgbClr val="CBD5E1"/>
                </a:solidFill>
                <a:latin typeface="Inter"/>
              </a:rPr>
              <a:t>C++17 rules · HTTP/JSON API · HTML/CSS/JS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PRESENTED BY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SAMPATH KUMAR REDDY · SYED ADAM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43225"/>
            <a:ext cx="33528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795587"/>
            <a:ext cx="3352800" cy="2676525"/>
          </a:xfrm>
          <a:prstGeom prst="roundRect">
            <a:avLst>
              <a:gd name="adj" fmla="val 56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43237"/>
            <a:ext cx="3352800" cy="2181225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943225"/>
            <a:ext cx="33528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19600" y="2795587"/>
            <a:ext cx="33528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3043237"/>
            <a:ext cx="33528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362325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214687"/>
            <a:ext cx="3429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462337"/>
            <a:ext cx="3810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01 /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23925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Why build WildSnake?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95725"/>
            <a:ext cx="34004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Understand 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343400"/>
            <a:ext cx="2686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Represent Snake, Food, World and Game as focused C++ classes.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748087"/>
            <a:ext cx="2820352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Separate responsibilities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491037"/>
            <a:ext cx="2686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Game rules live in the engine; the browser handles input and drawing.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995737"/>
            <a:ext cx="34004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Make it playable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443412"/>
            <a:ext cx="2686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Connect a browser interface to C++ using a small JSON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866900"/>
            <a:ext cx="106680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057525"/>
            <a:ext cx="106680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248150"/>
            <a:ext cx="106680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5438775"/>
            <a:ext cx="106680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02 /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23925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Project goals &amp;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2200275"/>
            <a:ext cx="7429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Space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390900"/>
            <a:ext cx="7429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Space Grotes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581525"/>
            <a:ext cx="7429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Space Grotesk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5772150"/>
            <a:ext cx="7429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Space Grotesk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125" y="2105025"/>
            <a:ext cx="104298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Model the game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2125" y="2390775"/>
            <a:ext cx="10429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C++ classes store snake, food, board, score and game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2125" y="3295650"/>
            <a:ext cx="104298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Implement the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125" y="3581400"/>
            <a:ext cx="10429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Move, collect food, grow, detect collisions and reset.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2125" y="4486275"/>
            <a:ext cx="104298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Connect a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2125" y="4772025"/>
            <a:ext cx="10429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HTTP requests carry player actions; JSON returns game state.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125" y="5676900"/>
            <a:ext cx="104298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Demonstrate 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2125" y="5962650"/>
            <a:ext cx="10429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Encapsulation, composition, observer interface, STL and CMake.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38250" y="2781300"/>
            <a:ext cx="97155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03 / GAMEPLAY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923925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What happens during a game?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25527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33800" y="25527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67400" y="25527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0" y="25527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34600" y="25527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7325" y="25527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3749" y="3238500"/>
            <a:ext cx="81010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753" y="3562350"/>
            <a:ext cx="2274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Player chooses direction.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0925" y="25527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348" y="3238500"/>
            <a:ext cx="8301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9400" y="3562350"/>
            <a:ext cx="228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Snake advances one cell.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4525" y="25527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5943" y="3238500"/>
            <a:ext cx="90011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8718" y="3562350"/>
            <a:ext cx="2214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Walls, body &amp; obstacles.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8125" y="25527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4554" y="3238500"/>
            <a:ext cx="73009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Eat?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56235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Grow, score +1, place food.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1725" y="25527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Space Grotesk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3137" y="3238500"/>
            <a:ext cx="10001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6653" y="3562350"/>
            <a:ext cx="1893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Browser draws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91841"/>
            <a:ext cx="4695825" cy="2931616"/>
          </a:xfrm>
          <a:prstGeom prst="roundRect">
            <a:avLst>
              <a:gd name="adj" fmla="val 389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72275" y="2610891"/>
            <a:ext cx="4657725" cy="2893516"/>
          </a:xfrm>
          <a:prstGeom prst="roundRect">
            <a:avLst>
              <a:gd name="adj" fmla="val 395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162" y="2991891"/>
            <a:ext cx="5715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4043362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537" y="2991891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04 /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23925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How the parts communicate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342" y="3601491"/>
            <a:ext cx="511313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Frontend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084" y="3972966"/>
            <a:ext cx="4869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HTML · CSS · 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6425" y="3767137"/>
            <a:ext cx="1143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Fira Code"/>
              </a:rPr>
              <a:t>HTTP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4567" y="3601491"/>
            <a:ext cx="511313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Space Grotesk"/>
              </a:rPr>
              <a:t>C++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6309" y="3972966"/>
            <a:ext cx="4869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Authoritative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825" y="4390161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50" y="4392066"/>
            <a:ext cx="4631531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Input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" y="4633942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" y="4635847"/>
            <a:ext cx="4631531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API calls &amp; 140ms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5" y="4877722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2550" y="4879627"/>
            <a:ext cx="4631531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Canvas rendering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8050" y="4390161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3775" y="4392066"/>
            <a:ext cx="4631531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Game state ownership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8050" y="4633942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3775" y="4635847"/>
            <a:ext cx="4631531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Movement &amp;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8050" y="4877722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3775" y="4879627"/>
            <a:ext cx="4631531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Collision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866900"/>
            <a:ext cx="34035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1866900"/>
            <a:ext cx="34035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1866900"/>
            <a:ext cx="34035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3409950"/>
            <a:ext cx="34035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4150" y="3409950"/>
            <a:ext cx="34035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6300" y="3409950"/>
            <a:ext cx="34035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1866900"/>
            <a:ext cx="38100" cy="13144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94150" y="1866900"/>
            <a:ext cx="38100" cy="13144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26300" y="1866900"/>
            <a:ext cx="38100" cy="13144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3409950"/>
            <a:ext cx="38100" cy="13144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4150" y="3409950"/>
            <a:ext cx="38100" cy="13144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6300" y="3409950"/>
            <a:ext cx="38100" cy="13144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05 / DESIGN &amp; 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923925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Inside the C++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2171700"/>
            <a:ext cx="361705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Game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2495550"/>
            <a:ext cx="2851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Coordinates ticks, score, collisions, reset; owns Snake and World.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7050" y="2171700"/>
            <a:ext cx="361705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Snake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7050" y="2495550"/>
            <a:ext cx="2851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Deque body; direction validation; movement and growth.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9200" y="2171700"/>
            <a:ext cx="361705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World + Food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9200" y="2495550"/>
            <a:ext cx="2851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Board bounds and random food placement.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" y="3714750"/>
            <a:ext cx="361705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" y="4038600"/>
            <a:ext cx="2851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Coordinate value type with equality operators.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7050" y="3714750"/>
            <a:ext cx="361705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GameObserver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7050" y="4038600"/>
            <a:ext cx="2851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Virtual callbacks for score change and game over.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9200" y="3714750"/>
            <a:ext cx="361705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ScoreManager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9200" y="4038600"/>
            <a:ext cx="2851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File-based score utility; currently standalone.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71750"/>
            <a:ext cx="106680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352800"/>
            <a:ext cx="106680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133850"/>
            <a:ext cx="106680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914900"/>
            <a:ext cx="106680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06 / HTTP +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23925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The API: browser ↔ game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771775"/>
            <a:ext cx="1238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Fira Code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525" y="2771775"/>
            <a:ext cx="297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Fira Code"/>
              </a:rPr>
              <a:t>/api/state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5775" y="2786062"/>
            <a:ext cx="7896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Read board, snake, food, score and game-over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552825"/>
            <a:ext cx="1238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Fira Code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4525" y="3552825"/>
            <a:ext cx="297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Fira Code"/>
              </a:rPr>
              <a:t>/api/direction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5775" y="3567112"/>
            <a:ext cx="7896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Send UP / DOWN / LEFT / RIGHT control inputs.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333875"/>
            <a:ext cx="1238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Fira Code"/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4525" y="4333875"/>
            <a:ext cx="297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Fira Code"/>
              </a:rPr>
              <a:t>/api/tick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5775" y="4348162"/>
            <a:ext cx="7896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Advance one step and return updated state.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5114925"/>
            <a:ext cx="1238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Fira Code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4525" y="5114925"/>
            <a:ext cx="297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Fira Code"/>
              </a:rPr>
              <a:t>/api/reset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5775" y="5129212"/>
            <a:ext cx="7896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Reset engine and return new baseline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1971675"/>
            <a:ext cx="5314950" cy="190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57925" y="1971675"/>
            <a:ext cx="5314950" cy="190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5" y="5353050"/>
            <a:ext cx="5314950" cy="190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57925" y="5353050"/>
            <a:ext cx="5314950" cy="190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3176587"/>
            <a:ext cx="53149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57925" y="3276600"/>
            <a:ext cx="53149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" y="6557962"/>
            <a:ext cx="53149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7925" y="6557962"/>
            <a:ext cx="53149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600" y="1514475"/>
            <a:ext cx="5334000" cy="30765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9600" y="1514475"/>
          <a:ext cx="5314950" cy="30765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314950"/>
              </a:tblGrid>
              <a:tr h="1025525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102552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Attributes
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+ x: int + y: 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552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Operations
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+ Point(x: int, y: int) + operator==(Point): bool + operator!=(Point): bool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48400" y="1514475"/>
            <a:ext cx="5334000" cy="30765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48400" y="1514475"/>
          <a:ext cx="5314950" cy="30765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314950"/>
              </a:tblGrid>
              <a:tr h="1025525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«enumeration» Direction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102552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Attributes
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UP DOWN LEFT RIGHT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552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Operations
        </a:t>
                      </a:r>
                      <a:r>
                        <a:rPr b="0" sz="975" i="0" u="none">
                          <a:solidFill>
                            <a:srgbClr val="64748B"/>
                          </a:solidFill>
                          <a:latin typeface="Fira Code"/>
                        </a:rPr>
                        <a:t>Used by Snake::setDirection()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09600" y="4895850"/>
            <a:ext cx="5334000" cy="30765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9600" y="4895850"/>
          <a:ext cx="5314950" cy="30765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314950"/>
              </a:tblGrid>
              <a:tr h="1025525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Snake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102552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Attributes
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- body_: deque - direction_: Direction - growing_: bool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552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Operations
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+ Snake(start: Point) + getBody(), getDirection() + setDirection(), move(), grow() + occupies(), hitsItself()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48400" y="4895850"/>
            <a:ext cx="5334000" cy="30765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48400" y="4895850"/>
          <a:ext cx="5314950" cy="30765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314950"/>
              </a:tblGrid>
              <a:tr h="1025525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Food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102552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Attributes
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- position_: 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552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Operations
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+ Food(position: Point) + getPosition(): Point + setPosition(Point): void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08 / UML CLASS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Coordinates, Direction &amp; Entities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1971675"/>
            <a:ext cx="3267075" cy="190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33850" y="1971675"/>
            <a:ext cx="3267075" cy="190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48575" y="1971675"/>
            <a:ext cx="3924300" cy="190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3376612"/>
            <a:ext cx="32670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33850" y="3576637"/>
            <a:ext cx="32670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48575" y="3376612"/>
            <a:ext cx="39243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1514475"/>
            <a:ext cx="3286125" cy="36766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600" y="1514475"/>
          <a:ext cx="3267075" cy="36766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267075"/>
              </a:tblGrid>
              <a:tr h="1225550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«template class» Grid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122555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 Attributes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- width_: int - height_: int - cells_: vector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22555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 Operations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+ Grid(width, height) + getWidth(), getHeight() + contains(Point): bool + at(Point): T&amp; + at(Point) const: const T&amp;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124325" y="1514475"/>
            <a:ext cx="3286125" cy="38766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24325" y="1514475"/>
          <a:ext cx="3267075" cy="38766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267075"/>
              </a:tblGrid>
              <a:tr h="1292225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World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129222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 Attributes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- width_: int - height_: int - food_: Food - obstacles_: vector - rng_: mt19937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29222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 Operations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+ World(width, height) + getWidth(), getHeight() + getFood(), getObstacles() + isInside(), hasObstacle() + placeFood(occupied)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39050" y="1514475"/>
            <a:ext cx="3943350" cy="36766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639050" y="1514475"/>
          <a:ext cx="3924300" cy="36766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924300"/>
              </a:tblGrid>
              <a:tr h="1225550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Game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122555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 Attributes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- snake_: Snake - world_: World - score_: int - gameOver_: bool - obs_: unique_ptr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22555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 Operations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+ Game(width, height) + setObserver(...) + changeDirection(...) + tick(), reset() + getScore(), isGameOver() + getSnake(), getWorld()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09 / UML CLASS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World, Grid &amp; Game Coordinator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1971675"/>
            <a:ext cx="5238750" cy="190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34125" y="1971675"/>
            <a:ext cx="5238750" cy="190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5" y="3176587"/>
            <a:ext cx="5238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4125" y="3176587"/>
            <a:ext cx="5238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514475"/>
            <a:ext cx="5257800" cy="30765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1514475"/>
          <a:ext cx="5238750" cy="30765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238750"/>
              </a:tblGrid>
              <a:tr h="1025525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«interface» GameObserver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102552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 Attributes
         </a:t>
                      </a:r>
                      <a:r>
                        <a:rPr b="0" sz="975" i="0" u="none">
                          <a:solidFill>
                            <a:srgbClr val="64748B"/>
                          </a:solidFill>
                          <a:latin typeface="Fira Code"/>
                        </a:rPr>
                        <a:t>No data members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552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 Operations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+ onScoreChanged(int): void = 0 + onGameOver(): void = 0 + virtual destructor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324600" y="1514475"/>
            <a:ext cx="5257800" cy="32766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24600" y="1514475"/>
          <a:ext cx="5238750" cy="3276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238750"/>
              </a:tblGrid>
              <a:tr h="1092200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ScoreManager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 Attributes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- currentScore_: int - highScore_: int - filePath_: string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
          Operations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Fira Code"/>
                        </a:rPr>
                        <a:t> + ScoreManager(filePath: string) + resetCurrentScore(): void + addPoints(int): void + getCurrentScore() + getHighScore() + loadHighScore() + saveHighScore()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10 / UML CLASS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Events &amp; Score Utility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866900"/>
            <a:ext cx="51816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866900"/>
            <a:ext cx="51816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210050"/>
            <a:ext cx="51816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210050"/>
            <a:ext cx="51816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11 / OOP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23925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OOP concepts used in WildSnake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2181225"/>
            <a:ext cx="597574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Space Grotesk"/>
              </a:rPr>
              <a:t>Encapsulation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2590800"/>
            <a:ext cx="4648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Private data + public methods. Snake owns body_ and exposes move(), grow() and getBody().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2181225"/>
            <a:ext cx="56292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Space Grotesk"/>
              </a:rPr>
              <a:t>Abstraction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2590800"/>
            <a:ext cx="4648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Game::tick() exposes a simple operation, hiding movement, collision and food placement details.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524375"/>
            <a:ext cx="597574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Space Grotesk"/>
              </a:rPr>
              <a:t>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4933950"/>
            <a:ext cx="4648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Game contains Snake and World; World contains Food. Objects collaborate to form gameplay.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524375"/>
            <a:ext cx="56292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Space Grotesk"/>
              </a:rPr>
              <a:t>Polymorphism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933950"/>
            <a:ext cx="4648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GameObserver uses pure virtual callbacks stored via base-class pointer (interface design).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9750" y="3019425"/>
            <a:ext cx="2654349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68899" y="3019425"/>
            <a:ext cx="2654349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28049" y="3019425"/>
            <a:ext cx="2654349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09750" y="3019425"/>
            <a:ext cx="2654349" cy="190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68899" y="3019425"/>
            <a:ext cx="2654349" cy="190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28049" y="3019425"/>
            <a:ext cx="2654349" cy="190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8301" y="1981200"/>
            <a:ext cx="3175396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2703" y="4581525"/>
            <a:ext cx="322659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4ADE80"/>
                </a:solidFill>
                <a:latin typeface="Space Grotesk"/>
              </a:rPr>
              <a:t>Thank you ·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5007" y="3267075"/>
            <a:ext cx="348383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Space Grotesk"/>
              </a:rPr>
              <a:t>1. Verify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7956" y="3590925"/>
            <a:ext cx="3317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Run checks and record actual tests.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4157" y="3267075"/>
            <a:ext cx="348383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Space Grotesk"/>
              </a:rPr>
              <a:t>2. High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7105" y="3590925"/>
            <a:ext cx="331793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Unify single source of truth for persistence.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3307" y="3267075"/>
            <a:ext cx="348383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Space Grotesk"/>
              </a:rPr>
              <a:t>3. Extend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6255" y="3590925"/>
            <a:ext cx="331793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Populate obstacles and add difficulty levels.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